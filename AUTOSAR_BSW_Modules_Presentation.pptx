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282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00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48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AUTOSAR BSW 模块分析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工程实践汇报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99621" y="347472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99621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87173" y="3474720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2887173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4373" y="347472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4373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BswM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1925" y="3474720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331925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89125" y="347472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125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76677" y="3474720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5776677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3877" y="347472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3877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1429" y="3474720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7221429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78629" y="347472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8629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66181" y="3474720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8666181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23381" y="347472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3381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99621" y="397764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99621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CanIf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87173" y="3977640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2887173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44373" y="397764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4373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CanTp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31925" y="3977640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A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4331925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89125" y="397764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9125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76677" y="3977640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A1A2E"/>
          </a:solidFill>
          <a:ln/>
        </p:spPr>
      </p:sp>
      <p:sp>
        <p:nvSpPr>
          <p:cNvPr id="37" name="Text 35"/>
          <p:cNvSpPr/>
          <p:nvPr/>
        </p:nvSpPr>
        <p:spPr>
          <a:xfrm>
            <a:off x="5776677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33877" y="397764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3877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21429" y="3977640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A1A2E"/>
          </a:solidFill>
          <a:ln/>
        </p:spPr>
      </p:sp>
      <p:sp>
        <p:nvSpPr>
          <p:cNvPr id="41" name="Text 39"/>
          <p:cNvSpPr/>
          <p:nvPr/>
        </p:nvSpPr>
        <p:spPr>
          <a:xfrm>
            <a:off x="7221429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78629" y="397764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78629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66181" y="3977640"/>
            <a:ext cx="457200" cy="365760"/>
          </a:xfrm>
          <a:prstGeom prst="roundRect">
            <a:avLst>
              <a:gd name="adj" fmla="val 25000"/>
            </a:avLst>
          </a:prstGeom>
          <a:solidFill>
            <a:srgbClr val="1A1A2E"/>
          </a:solidFill>
          <a:ln/>
        </p:spPr>
      </p:sp>
      <p:sp>
        <p:nvSpPr>
          <p:cNvPr id="45" name="Text 43"/>
          <p:cNvSpPr/>
          <p:nvPr/>
        </p:nvSpPr>
        <p:spPr>
          <a:xfrm>
            <a:off x="8666181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23381" y="397764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23381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82401" y="4696925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EasyXMen BSW · AUTOSAR </a:t>
            </a:r>
            <a:r>
              <a:rPr lang="en-US" sz="1200" dirty="0" smtClean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基于源码分析</a:t>
            </a:r>
            <a:endParaRPr lang="en-US" sz="12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整体架构概览 — 模块分层与关系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35040" y="10972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模块关系核心链路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627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电源→通信 链路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72200" y="1901952"/>
            <a:ext cx="5486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EcuM 上电→StartOS → BswM 初始化规则 → ComM 通道全通信 → CanIf 收发 → PduR 路由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301752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3090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链路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3364992"/>
            <a:ext cx="5486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CanIf 接收 → CanTp 重组 → PduR 路由 → Dcm 服务处理 → Dem DTC / NvM 存储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448056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45537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数据保护 链路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4828032"/>
            <a:ext cx="5486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Crc CRC32/16/8 → E2E Counter+CRC → Com 信号校验 → NvM 存储校验</a:t>
            </a:r>
            <a:endParaRPr lang="en-US" sz="12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0"/>
            <a:ext cx="6035040" cy="491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EcuM — ECU状态管理器（系统启动基石）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343400" cy="2712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ECU生命周期管理：STARTUP → RUN → SHUTDOWN → SLEEP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启动序列：DriverInitZero → DeterminePbConfig → DriverInitOne → StartOS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RUN/POST_RUN请求协议：多用户独立请求，通过RTE Switch仲裁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唤醒源管理：32位bitmask，5种状态（NONE→PENDING→VALIDATED→EXPIRED→ENABLED）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睡眠/唤醒：支持Halt（挂起）和Poll（降频轮询）两种模式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66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关键数据结构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5135792"/>
            <a:ext cx="4114800" cy="1316736"/>
          </a:xfrm>
          <a:prstGeom prst="roundRect">
            <a:avLst>
              <a:gd name="adj" fmla="val 347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5129696"/>
            <a:ext cx="3840480" cy="1249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uint8 EcuM_StateType;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高nibble=主状态, 低nibble=子状态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ECUM_STATE_STARTUP   0x10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ECUM_STATE_APP_RUN    0x32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ECUM_STATE_SHUTDOWN  0x40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ECUM_STATE_SLEEP     0x50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完整生命周期状态机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1850" y="4814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关键代码：EcuM_Init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92684" y="5134312"/>
            <a:ext cx="6766560" cy="1490472"/>
          </a:xfrm>
          <a:prstGeom prst="roundRect">
            <a:avLst>
              <a:gd name="adj" fmla="val 30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5266290"/>
            <a:ext cx="649224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EcuM_Init(void)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pRt-&gt;EcuM_IsInit = TRUE;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EcuM_InternalInit(pRt);     // 运行时变量初始化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EcuM_StartPreOS();          // DriverInit→DeterminePbConfig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EcuM_CancellAlarms();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StartOS(defaultAppMode);    // 永不返回！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188720"/>
            <a:ext cx="3672840" cy="35595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EcuM → BswM 协作关系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EcuM_StartupTwo 启动BswM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1490472"/>
          </a:xfrm>
          <a:prstGeom prst="roundRect">
            <a:avLst>
              <a:gd name="adj" fmla="val 30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475488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EcuM_StartupTwo(void)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SchM_Start();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BswM_Init(bswMPbCfg);  // ← 初始化BswM!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SchM_Init(schMPbCfg);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SchM_StartTiming();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EcuM_InitAndNotifyBswM(); // 通知BswM:STARTUP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EcuM_MainFunction 唤醒→BswM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552444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5592" y="360045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EcuM_MainFunction(void)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EcuM_WakeupMainFunction();  // 唤醒验证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EcuM_UpdateEcuMClock();     // 闹钟更新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EcuM_ModeHandingMainFunction(); // RUN/POST_RUN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EcuM 通知 BswM 的接口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410608"/>
              </p:ext>
            </p:extLst>
          </p:nvPr>
        </p:nvGraphicFramePr>
        <p:xfrm>
          <a:off x="457200" y="5175504"/>
          <a:ext cx="5029200" cy="1170432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EcuM事件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BswM回调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ECU状态变更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BswM_EcuM_CurrentState()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唤醒源状态变更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BswM_EcuM_CurrentWakeup()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RUN请求变更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BswM_EcuM_RequestedState()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76072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RUN/POST_RUN 请求协议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760720" y="5074920"/>
            <a:ext cx="5943600" cy="1371600"/>
          </a:xfrm>
          <a:prstGeom prst="roundRect">
            <a:avLst>
              <a:gd name="adj" fmla="val 5333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514807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97880" y="5422392"/>
            <a:ext cx="56692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多用户独立计数：RunNum和PostRunNum独立维护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首次请求通知BswM REQUESTED，最后一个释放通知RELEASED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同一用户重复请求 → DET错误报告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支持Pre-compile开关：ECUM_MODE_HANDING</a:t>
            </a:r>
            <a:endParaRPr lang="en-US" sz="12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208" y="1397508"/>
            <a:ext cx="4294632" cy="35859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BswM — BSW模式管理器（仲裁中心）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823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5196" y="1385316"/>
            <a:ext cx="4297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模式仲裁：基于规则(Rule)评估各端口状态，执行Action List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双端口模型：Event Request Port（事件驱动）+ Mode Request Port（模式驱动）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延迟/立即：Deferred在MainFunction中评估，Immediate在回调中直接评估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集成了20+个模块（CanSM/ComM/EcuM/Dcm/NvM/EthSM...）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28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核心数据结构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8922" y="3381756"/>
            <a:ext cx="4297680" cy="1299972"/>
          </a:xfrm>
          <a:prstGeom prst="roundRect">
            <a:avLst>
              <a:gd name="adj" fmla="val 347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8922" y="3435096"/>
            <a:ext cx="40233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BswM_ActionListHandlerType (*modeArbitraFunc)();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r>
              <a:rPr lang="en-US" sz="1200" dirty="0" err="1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s配置工具生成的规则表达式求值函数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BswM_RuleStateType ruleInitState;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isNestExe;  // 是否仅嵌套执行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BswM_RuleLcCfgType;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54496" y="8823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规则仲裁核心流程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4693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关键代码：BswM_MainFunction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8922" y="5081016"/>
            <a:ext cx="4510278" cy="1490472"/>
          </a:xfrm>
          <a:prstGeom prst="roundRect">
            <a:avLst>
              <a:gd name="adj" fmla="val 30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922" y="5187696"/>
            <a:ext cx="4577334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BswM_MainFunction(void)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遍历所有延迟规则并仲裁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defRule in defRuleRefLCfg[]: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BswM_ArbitrateRule(partCfg, ruleIdx, FALSE);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定时器递减管理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BSW/SWC 模式通知回调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074" y="1202436"/>
            <a:ext cx="3394206" cy="55336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PduR — PDU路由器（通信中枢）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PDU路由：在不同模块间转发PDU数据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位于上层（Com/Dcm/CanTp）与下层（CanIf/CanDrv）之间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路由路径管理：支持IF路由和TP路由两种模式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缓冲区管理：队列(Queue)机制处理异步数据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支持多分区路由和路由路径组(RoutingPathGroup)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5829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数据流向示意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关键代码：PduR_Transmit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6766560" cy="2359152"/>
          </a:xfrm>
          <a:prstGeom prst="roundRect">
            <a:avLst>
              <a:gd name="adj" fmla="val 193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508760"/>
            <a:ext cx="649224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Std_ReturnType PduR_Transmit(PduIdType id, PduInfoType* info)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查找源PDU配置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srcCfg = PduR_GetBswModulePtrOfSrcPdu(id);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判断路由类型: IF Route or TP Route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(PduR_IsTpRouteOfSrcPdu(id))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TP路由 → 转发到CanTp_Transmit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PduR_TpTransmitForward(dest, info);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IF路由 → 转发到CanIf_Transmit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PduR_IfTransmitForward(dest, info);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4355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接收回调链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37760" y="4785360"/>
            <a:ext cx="6766560" cy="952500"/>
          </a:xfrm>
          <a:prstGeom prst="roundRect">
            <a:avLst>
              <a:gd name="adj" fmla="val 471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4885944"/>
            <a:ext cx="6492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CanIf_RxIndication()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PduR_IfRxIndication()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200" dirty="0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PduR_IfRxIndicationForward()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200" dirty="0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Com_RxIndication() / Dcm_TpRxIndication()</a:t>
            </a:r>
            <a:endParaRPr lang="en-US" sz="12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66" y="3986784"/>
            <a:ext cx="3088930" cy="2472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Com — 通信模块（信号层）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45336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↔ IPDU：信号的打包(Pack)和解包(Unpack)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IPDU组管理：Com_IpduGroupStart/Stop控制收发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发送模式：DIRECT(直接)/PERIODIC(周期)/MIXED(混合)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信号网关：支持源信号到目标信号的路由转发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超时监控：Rx Deadline Monitoring，信号/信号组超时处理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3878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收发流程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54546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39306" y="1508760"/>
            <a:ext cx="5430774" cy="1837944"/>
          </a:xfrm>
          <a:prstGeom prst="roundRect">
            <a:avLst>
              <a:gd name="adj" fmla="val 248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6654" y="1603248"/>
            <a:ext cx="6492240" cy="165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信号发送 — 更新Shadow Buffer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Com_SendSignal(SignalId, SignalDataPtr)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拷贝数据到shadow buffer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Com_SetTxSignalBuff(SignalId, SignalDataPtr);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检查发送模式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(TxMode == DIRECT)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Com_TriggerIPDUSend(ipduId); // 立即发送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54546" y="3457956"/>
            <a:ext cx="5420868" cy="1316736"/>
          </a:xfrm>
          <a:prstGeom prst="roundRect">
            <a:avLst>
              <a:gd name="adj" fmla="val 347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56654" y="3598164"/>
            <a:ext cx="4591812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信号接收 — 解包IPDU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Com_RxIndication(PduId, PduInfoPtr)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Com_CopyPduDataToRxBuffer(PduInfoPtr);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signal in IPDU: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Com_RxSignalHandle(signal); // 解包+通知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54546" y="4910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信号网关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54546" y="5301615"/>
            <a:ext cx="5420868" cy="1316736"/>
          </a:xfrm>
          <a:prstGeom prst="roundRect">
            <a:avLst>
              <a:gd name="adj" fmla="val 347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0380" y="5423916"/>
            <a:ext cx="50292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Com_MainFunctionRouteSignals()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遍历网关映射，判断源信号是否有更新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gwMapping: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(Com_GwSignal(srcSig, destSig))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Com_GwUpdateDestinationRequest(destSig);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3776472"/>
            <a:ext cx="4101751" cy="298246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331" y="3786378"/>
            <a:ext cx="2468975" cy="30121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Dem — 诊断事件管理器（DTC管理）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87068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DTC状态管理：UDS Status Byte (bit0-7)，含TestFailed/Pending/Confirmed等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去抖动(Debounce)：Counter-based（计数型）和 Time-based（时间型）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事件存储：FreezeFrame（冻结帧）+ ExtendedData（扩展数据）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老化(Aging)：DTC自动清除机制，Up/Down计数器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Enable Condition：条件不满足时抑制DTC检测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关键代码：Dem_SetEventStatus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1542288"/>
            <a:ext cx="6766560" cy="2185416"/>
          </a:xfrm>
          <a:prstGeom prst="roundRect">
            <a:avLst>
              <a:gd name="adj" fmla="val 209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654302"/>
            <a:ext cx="6492240" cy="2002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Dem_SetEventStatus(EventId, EventStatus)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DET参数校验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Enable Condition检查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(!Dem_CheckECFulfilled(EventId))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 // 条件不满足，忽略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Debounce计算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Dem_DebounceCalculate(EventId, monitorTrigger);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4. DTC状态更新 + 存储触发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(debounceResult == FAILED)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Dem_DTCProcessStorage(EventId);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65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Dem与Dcm/NvM的交互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136688"/>
              </p:ext>
            </p:extLst>
          </p:nvPr>
        </p:nvGraphicFramePr>
        <p:xfrm>
          <a:off x="457200" y="4546092"/>
          <a:ext cx="6766560" cy="1463040"/>
        </p:xfrm>
        <a:graphic>
          <a:graphicData uri="http://schemas.openxmlformats.org/drawingml/2006/table">
            <a:tbl>
              <a:tblPr/>
              <a:tblGrid>
                <a:gridCol w="225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交互方向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Dem→Dcm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Dem_GetStatusOfDTC()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读取DTC状态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Dcm→Dem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Dem_ClearDTC()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清除DTC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Dem→NvM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Dem_NvmSetBlockState()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DTC持久化存储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NvM→Dem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Dem_NvmReadBlockFinish()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上电恢复DTC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Dem — 诊断事件管理器（DTC管理）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Debounce机制</a:t>
            </a:r>
            <a:endParaRPr lang="en-US" sz="15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140" y="960120"/>
            <a:ext cx="6568440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9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NvM — NVRAM管理器（持久化存储）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2583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7998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Block管理：NATIVE/REDUNDANT/DATASET三种管理类型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异步操作：读/写/擦除/无效化 均通过队列异步执行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CRC校验：CRC8/16/32可选，写入时计算、读取时验证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写保护：Write-Once Block（如VIN码）首次写入后锁定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冗余恢复：REDUNDANT Block双副本，CRC失败时自动切换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444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关键代码：写入流程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6766560" cy="1664208"/>
          </a:xfrm>
          <a:prstGeom prst="roundRect">
            <a:avLst>
              <a:gd name="adj" fmla="val 274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508760"/>
            <a:ext cx="64922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NvM_InterWriteBlock 状态机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WRITE_ROM_READ: 读取ROM默认值（比较用）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DATA_COPY: RAM→NvDataBuffer拷贝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CRC_CALC: NvM_InterCalcCrc(CRC8/16/32)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COMPRESSION_ENCRYPTION: 可选压缩+加密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WRITE_NV: </a:t>
            </a:r>
            <a:r>
              <a:rPr lang="en-US" sz="1200" dirty="0" err="1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MemIf_Write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→ 物理写入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WRITE_VERIFICATION: 回读验证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DONE: CRC状态更新+回调通知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444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队列系统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37760" y="3849624"/>
            <a:ext cx="6766560" cy="1664208"/>
          </a:xfrm>
          <a:prstGeom prst="roundRect">
            <a:avLst>
              <a:gd name="adj" fmla="val 274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3941064"/>
            <a:ext cx="64922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NvM_MainFunction 调度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NvM_MainFunction(void)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轮询模式: 检查MemIf完成状态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出队一个作业执行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NvM_JobDequeue();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运行状态检测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NvM_RunTimeHandle();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49" y="3718560"/>
            <a:ext cx="2608455" cy="3139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CanIf — CAN接口层（硬件抽象）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CAN通信抽象：隔离上层与CAN驱动的硬件差异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PDU发送接收：通过HTH(发送)/HRH(接收)管理CAN硬件对象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控制器模式：STARTED/STOPPED/SLEEP三种模式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收发器控制：支持多收发器模式管理和唤醒检测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软件过滤：LINEAR(线性)/BINARY(二分)两种CAN ID查找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43585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软件过滤机制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关键代码：发送流程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1507236"/>
            <a:ext cx="6766560" cy="1664208"/>
          </a:xfrm>
          <a:prstGeom prst="roundRect">
            <a:avLst>
              <a:gd name="adj" fmla="val 274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32248" y="1598676"/>
            <a:ext cx="64922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CanIf_Transmit(TxPduId, PduInfoPtr)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PduId→TxPduIndex (Variant映射)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获取TxPduConfig (CAN ID, DLC, HTH)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提取MetaData中的CAN ID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CanIf_GetBaseCanIdHandle(MetaData);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4. 调用CanDrv硬件发送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Can_Write(Hth, &amp;CanPduInfo);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44195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关键代码：控制器模式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37760" y="3801618"/>
            <a:ext cx="6766560" cy="1664208"/>
          </a:xfrm>
          <a:prstGeom prst="roundRect">
            <a:avLst>
              <a:gd name="adj" fmla="val 274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2248" y="3893058"/>
            <a:ext cx="64922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异步设置控制器模式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CanIf_SetControllerMode(CtrlId, Mode)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(Mode)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CAN_CS_STARTED: Can_SetControllerMode(START);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CAN_CS_STOPPED: Can_SetControllerMode(STOP);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CAN_CS_SLEEP:   Can_SetControllerMode(SLEEP);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353" y="3171444"/>
            <a:ext cx="2316575" cy="3686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CanTp — CAN传输协议（ISO 15765-2）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8315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38656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大块数据分段传输：将N-SDU拆分为CAN帧发送，接收端重组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4种帧类型：SF(单帧)/FF(首帧)/CF(连续帧)/FC(流控帧)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流控管理：BS(块大小)和STmin(帧间隔)控制传输速率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超时管理：N_As/N_Ar/N_Bs/N_Br/N_Cs/N_Cr 六大超时参数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支持多种寻址格式：STANDARD/EXTENDED/NORMALFIXED/MIXED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38099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帧格式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36848"/>
            <a:ext cx="4114800" cy="75361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14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 (Single Frame):   0x0DL | Data[0..6]</a:t>
            </a:r>
            <a:endParaRPr lang="en-US" sz="120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 (First Frame):    0x1 DL_H DL_L | Data[0..5]</a:t>
            </a:r>
            <a:endParaRPr lang="en-US" sz="120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(Consecutive):    0x2 SN | Data[0..6]</a:t>
            </a:r>
            <a:endParaRPr lang="en-US" sz="1200" dirty="0"/>
          </a:p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 (Flow Control):   0x3 FS | BS | STmin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24600" y="9617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发送通道状态机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501515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875657"/>
            <a:ext cx="6766560" cy="1920240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5146738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CanTp_Transmit(PduId, PduInfoPtr)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(length &lt;= 7)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单帧发送: PCI=0x0D(长度)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CanTp_SendSF(PduId, data, length);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多帧: 先发FF(含总长度), 等FC, 再发CF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CanTp_SendFF(PduId, data, totalLength);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CanTp_WaitForFC();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CanTp_SendCFs(PduId, remainingData, BS, STmin);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815" y="1203198"/>
            <a:ext cx="3832025" cy="54719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Dcm — 诊断通信管理器（UDS/OBD服务）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UDS服务：实现ISO 14229标准服务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0x10 DiagnosticSession, 0x22 ReadDataById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0x2E WriteDataById, 0x19 ReadDTCInformation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0x27 SecurityAccess, 0x31 RoutineControl等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OBD服务：0x01-0x0A (PID/MID/TID/VehInfo)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三层架构：DSL(会话层)→DSD(分发层)→DSP(处理层)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时序管理：P2 Server/P2* Server/P4 Server定时器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安全机制：Session+SecurityLevel+Authentication三层验证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诊断请求处理流程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1833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关键代码：Dcm_MainFunction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3860" y="4572000"/>
            <a:ext cx="5943600" cy="1837944"/>
          </a:xfrm>
          <a:prstGeom prst="roundRect">
            <a:avLst>
              <a:gd name="adj" fmla="val 248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5669280" cy="165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Dcm_MainFunction(void)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P2/P4定时器检查 (超时→NRC 0x78)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DcmInternal_CheckP2Timer();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DcmInternal_CheckP4Timer();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异步发送处理 (跨分区确认)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DslInternal_ProcessTransmit();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各服务的MainFunction (0x28/0x29/0x2A/0x85/0x86)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Dcm_UDS0x2A_MainFunction(); // 周期发送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463040"/>
            <a:ext cx="4290060" cy="5394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 Dcm ↔ Dem ↔ NvM 诊断-存储协作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2399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Dcm + Dem 交互场景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192160"/>
              </p:ext>
            </p:extLst>
          </p:nvPr>
        </p:nvGraphicFramePr>
        <p:xfrm>
          <a:off x="152399" y="1463040"/>
          <a:ext cx="5303520" cy="2334768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UDS请求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Dcm处理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Dem调用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0x14 ClearDTC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Dcm_UDS0x14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Dem_ClearDTC() → NvM写入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0x19 02 (按状态读DTC)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Dcm_UDS0x19_02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Dem_GetNumberOfFilteredDTC()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Dem_GetNextFilteredDTC()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0x19 04 (读快照)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Dcm_UDS0x19_04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Dem_GetNextFreezeFrameData()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0x85 DTCSetting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Dcm_UDS0x85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Dem_DisableDTCSetting() / Enable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52399" y="43952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Dcm + NvM 交互场景</a:t>
            </a:r>
            <a:endParaRPr lang="en-US" sz="15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289088"/>
              </p:ext>
            </p:extLst>
          </p:nvPr>
        </p:nvGraphicFramePr>
        <p:xfrm>
          <a:off x="213360" y="4754880"/>
          <a:ext cx="5242560" cy="1438656"/>
        </p:xfrm>
        <a:graphic>
          <a:graphicData uri="http://schemas.openxmlformats.org/drawingml/2006/table">
            <a:tbl>
              <a:tblPr/>
              <a:tblGrid>
                <a:gridCol w="174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UDS请求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Dcm处理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NvM调用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0x22 ReadDID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Dcm_UDS0x22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NvM_ReadBlock() (DID=NV数据)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0x2E WriteDID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Dcm_UDS0x2E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NvM_WriteBlock() (写入NV)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0x36 TransferData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Dcm_UDS0x36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写操作时调用NvM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03504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诊断链路完整示例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172200" y="1490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场景：读取DTC 0x19 02</a:t>
            </a:r>
            <a:endParaRPr lang="en-US" sz="1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1764792"/>
            <a:ext cx="6736081" cy="50170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 ComM — 通信管理器（通道状态机）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通道状态机：每个通道独立5状态机管理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通信模式仲裁：汇总User/PNC/DCM/WakeUp请求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NM集成：4种变体 (FULL/LIGHT/NONE/PASSIVE)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PNC支持：部分网络集群的独立状态机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通信抑制/唤醒抑制：安全和电源管理机制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通道状态机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关键代码：通道主调度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6766560" cy="2880360"/>
          </a:xfrm>
          <a:prstGeom prst="roundRect">
            <a:avLst>
              <a:gd name="adj" fmla="val 158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508760"/>
            <a:ext cx="64922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ComM_ChannelMainFunction(Channel) {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NM超时递减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PNC状态机调度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PNC assigned to Channel: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ComM_PncMainFunction(pnc, Channel);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评估活动请求 (User+PNC+DCM)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activeRequested = ComM_ChannelActiveRequested(Channel);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4. 处理NM事件 (原子CAS操作)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ComM_ChannelNmModeEventHandle(Channel, activeRequested);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5. 状态迁移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(activeRequested)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ComM_ChannelStateTransitionToFullCom(Channel, TRUE);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ComM_ChannelStateTransitionToNoCom(Channel);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0432" y="45948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 ↔ EcuM ↔ BswM 协作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0432" y="461772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EcuM→ComM：ComM_EcuM_WakeUpIndication(Channel) 唤醒通知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ComM→BswM：BswM_ComM_CurrentMode(Channel, Mode) 模式通知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BswM→ComM：ComM_CommunicationAllowed(Channel, TRUE/FALSE) 仲裁结果</a:t>
            </a:r>
            <a:endParaRPr lang="en-US" sz="12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3520440"/>
            <a:ext cx="2933700" cy="3337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 Crc &amp; E2E — 数据完整性保护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881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Crc — CRC校验库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多种CRC算法：CRC8/CRC8H2F/CRC16/CRC16ARC/CRC32/CRC32P4/CRC64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提供反射(Reflection)函数用于不同字节序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 NvM、E2E、Com 等模块调用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993136"/>
            <a:ext cx="4297680" cy="2145792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47472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CRC32计算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Crc_CalculateCRC32(DataPtr, Length, </a:t>
            </a:r>
            <a:r>
              <a:rPr lang="en-US" sz="1200" dirty="0" err="1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StartValue</a:t>
            </a:r>
            <a:r>
              <a:rPr lang="en-US" sz="1200" dirty="0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 smtClean="0"/>
              <a:t> </a:t>
            </a:r>
            <a:r>
              <a:rPr lang="en-US" sz="1200" dirty="0" err="1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FirstCall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→ </a:t>
            </a:r>
            <a:r>
              <a:rPr lang="en-US" sz="1200" dirty="0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</a:t>
            </a:r>
          </a:p>
          <a:p>
            <a:pPr marL="0" indent="0">
              <a:lnSpc>
                <a:spcPts val="1300"/>
              </a:lnSpc>
              <a:buNone/>
            </a:pP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CRC16计算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Crc_CalculateCRC16(DataPtr, Length, </a:t>
            </a:r>
            <a:r>
              <a:rPr lang="en-US" sz="1200" dirty="0" err="1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StartValue,FirstCall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→ </a:t>
            </a:r>
            <a:r>
              <a:rPr lang="en-US" sz="1200" dirty="0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</a:t>
            </a:r>
          </a:p>
          <a:p>
            <a:pPr marL="0" indent="0">
              <a:lnSpc>
                <a:spcPts val="1300"/>
              </a:lnSpc>
              <a:buNone/>
            </a:pP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CRC8H2F (Poly=0x2F)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Crc_CalculateCRC8H2F(DataPtr, Length, </a:t>
            </a:r>
            <a:r>
              <a:rPr lang="en-US" sz="1200" dirty="0" err="1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StartValue</a:t>
            </a:r>
            <a:r>
              <a:rPr lang="en-US" sz="1200" dirty="0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 smtClean="0"/>
              <a:t> </a:t>
            </a:r>
            <a:r>
              <a:rPr lang="en-US" sz="1200" dirty="0" err="1" smtClean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FirstCall</a:t>
            </a: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→ uint8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— 端到端保护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多种Profile：P01/P02/P04/P05/P06/P07/P08/P11/P22/P44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核心机制：Counter（计数器）+ CRC（完整性）+ DataID（防伪装）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状态机：监控通信质量（OK/ERROR窗），支持INIT→VALID→INVALID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Protect/Check：发送端Protect添加校验，接收端Check验证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651760"/>
            <a:ext cx="6675120" cy="1780032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89560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Profile 1 的 Protect 和 Check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E2E_P01Protect(Config, State, Data, Length)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写入 Counter + CRC 到 Data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E2E_P01Check(Config, State, Data, Length)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验证 Counter + CRC，返回 OK/ERROR/REPEATED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状态机检查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E2E_SMCheck(State, ProfileStatus)</a:t>
            </a:r>
            <a:endParaRPr lang="en-US" sz="12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E2E_P_OK / E2E_P_ERROR / ...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4389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E2E应用场景</a:t>
            </a:r>
            <a:endParaRPr lang="en-US" sz="15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709160"/>
            <a:ext cx="6958012" cy="2091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 模块关系总览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核心数据流链路</a:t>
            </a:r>
            <a:endParaRPr lang="en-US" sz="15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281" y="1554480"/>
            <a:ext cx="2804160" cy="53035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075" y="1568802"/>
            <a:ext cx="3484245" cy="5289198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457200" y="1568802"/>
            <a:ext cx="155924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500" b="1" dirty="0" smtClean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系统启动</a:t>
            </a:r>
            <a:r>
              <a:rPr lang="en-US" sz="1500" b="1" dirty="0" err="1" smtClean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10" name="Text 2"/>
          <p:cNvSpPr/>
          <p:nvPr/>
        </p:nvSpPr>
        <p:spPr>
          <a:xfrm>
            <a:off x="6580822" y="156880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500" b="1" dirty="0" smtClean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</a:t>
            </a: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数据流链路</a:t>
            </a:r>
            <a:endParaRPr lang="en-US" sz="15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 模块依赖矩阵与关键接口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336867"/>
              </p:ext>
            </p:extLst>
          </p:nvPr>
        </p:nvGraphicFramePr>
        <p:xfrm>
          <a:off x="457200" y="1097280"/>
          <a:ext cx="11247120" cy="5446776"/>
        </p:xfrm>
        <a:graphic>
          <a:graphicData uri="http://schemas.openxmlformats.org/drawingml/2006/table">
            <a:tbl>
              <a:tblPr/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直接依赖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被依赖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关键对外接口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EcuM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Mcu, OS, GPT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BswM, ComM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EcuM_Init, EcuM_MainFunction, EcuM_SetWakeupEvent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BswM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EcuM, ComM, 各SM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(独立仲裁层)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BswM_Init, BswM_MainFunction, BswM_ArbitrateRule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PduR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CanIf, CanTp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Com, Dcm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PduR_Transmit, PduR_IfRxIndication, PduR_TpRxIndication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PduR, RTE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SW-C, SignalGW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Com_SendSignal, Com_ReceiveSignal, Com_MainFunctionRx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NvM, Crc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Dcm, SW-C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Dem_SetEventStatus, Dem_GetStatusOfDTC, Dem_MainFunction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MemIf, Crc, Fee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Dem, Dcm, SW-C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NvM_ReadBlock, NvM_WriteBlock, NvM_MainFunction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CanIf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CanDrv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PduR, CanTp, CanNm, CanSM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CanIf_Transmit, CanIf_RxIndication, CanIf_SetControllerMode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CanTp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CanIf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PduR, Dcm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CanTp_Transmit, CanTp_RxIndication, CanTp_MainFunction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PduR, Dem, NvM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(独立诊断层)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Dcm_MainFunction, DsdInternal_SendResponse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BusSM, Nm, EcuM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BswM, SW-C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ComM_RequestComMode, ComM_ChannelMainFunction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(无)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NvM, E2E, Com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Crc_CalculateCRC32/16/8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Com, SW-C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EE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E2E_P0xProtect, E2E_P0xCheck, E2E_SMCheck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5313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 总结与要点回顾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749040" cy="1761744"/>
          </a:xfrm>
          <a:prstGeom prst="roundRect">
            <a:avLst>
              <a:gd name="adj" fmla="val 444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70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 (2个)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34747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EcuM — ECU生命周期，上电→启动OS→唤醒管理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BswM — 规则仲裁中心，连接所有模块的模式请求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097280"/>
            <a:ext cx="3749040" cy="1761744"/>
          </a:xfrm>
          <a:prstGeom prst="roundRect">
            <a:avLst>
              <a:gd name="adj" fmla="val 444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170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通信层 (4个)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44752"/>
            <a:ext cx="34747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 — 通道状态机，协调通信模式的启停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PduR — 路由中枢，PDU在各模块间转发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CanIf — 硬件抽象，隔离CAN驱动差异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CanTp — ISO 15765-2，大数据分段传输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097280"/>
            <a:ext cx="3383280" cy="1761744"/>
          </a:xfrm>
          <a:prstGeom prst="roundRect">
            <a:avLst>
              <a:gd name="adj" fmla="val 444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164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功能层 (6个)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58200" y="1517904"/>
            <a:ext cx="31089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 — 信号打包/解包，IPDU组管理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Dcm — UDS/OBD服务，三层架构处理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 — DTC管理，去抖动+存储+老化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NvM — 持久化存储，CRC验证+冗余管理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Crc — CRC8/16/32/64校验库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— 端到端保护，Counter+DataID+CRC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关键设计模式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478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状态机驱动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822192"/>
            <a:ext cx="53035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EcuM的生命周期状态机、ComM的通道状态机、CanTp的收发状态机、Dcm的协议状态机、PNC状态机 — 全部采用状态迁移模式，确保行为可预测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47472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5478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3822192"/>
            <a:ext cx="52120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BswM的规则+ActionList、PduR的路由表、Com的信号映射、Dem的Event配置 — 全部由配置工具生成，代码只提供通用框架，行为完全由配置决定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0175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94457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EasyXMen BSW · AUTOSAR Classic Platform</a:t>
            </a:r>
            <a:endParaRPr lang="en-US" sz="1300" dirty="0"/>
          </a:p>
          <a:p>
            <a:pPr marL="0" indent="0" algn="ctr">
              <a:lnSpc>
                <a:spcPts val="2400"/>
              </a:lnSpc>
              <a:buNone/>
            </a:pPr>
            <a:endParaRPr lang="en-US" sz="13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基于源码分析 · 12</a:t>
            </a:r>
            <a:r>
              <a:rPr lang="en-US" sz="1300" dirty="0" smtClean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个核心模块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2234</Words>
  <Application>Microsoft Office PowerPoint</Application>
  <PresentationFormat>宽屏</PresentationFormat>
  <Paragraphs>494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AUTOSAR BSW 模块分析</dc:title>
  <dc:subject>PptxGenJS Presentation</dc:subject>
  <dc:creator>EasyXMen BSW Team</dc:creator>
  <cp:lastModifiedBy>VG.hacker</cp:lastModifiedBy>
  <cp:revision>105</cp:revision>
  <dcterms:created xsi:type="dcterms:W3CDTF">2026-06-24T14:35:31Z</dcterms:created>
  <dcterms:modified xsi:type="dcterms:W3CDTF">2026-06-25T10:03:11Z</dcterms:modified>
</cp:coreProperties>
</file>